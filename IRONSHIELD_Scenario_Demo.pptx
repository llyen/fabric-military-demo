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B1D3A"/>
                </a:solidFill>
              </a:rPr>
              <a:t>OPERATION IRONSHIELD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Symulacja pola walki z Microsoft Fabric</a:t>
            </a:r>
          </a:p>
          <a:p>
            <a:r>
              <a:t>Real-Time Intelligence • Data Agents • Operations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 Kontekst: dlaczego Fabric na polu walki?</a:t>
            </a:r>
          </a:p>
          <a:p>
            <a:pPr>
              <a:defRPr sz="1400"/>
            </a:pPr>
            <a:r>
              <a:t>2. Scenariusz: OPERATION IRONSHIELD</a:t>
            </a:r>
          </a:p>
          <a:p>
            <a:pPr>
              <a:defRPr sz="1400"/>
            </a:pPr>
            <a:r>
              <a:t>3. Faza 1: Real-Time Intelligence – świadomość sytuacyjna</a:t>
            </a:r>
          </a:p>
          <a:p>
            <a:pPr>
              <a:defRPr sz="1400"/>
            </a:pPr>
            <a:r>
              <a:t>4. Faza 2: Data Agents – wywiad konwersacyjny</a:t>
            </a:r>
          </a:p>
          <a:p>
            <a:pPr>
              <a:defRPr sz="1400"/>
            </a:pPr>
            <a:r>
              <a:t>5. Faza 3: Operations Agents – autonomiczne reagowanie</a:t>
            </a:r>
          </a:p>
          <a:p>
            <a:pPr>
              <a:defRPr sz="1400"/>
            </a:pPr>
            <a:r>
              <a:t>6. Architektura techniczna</a:t>
            </a:r>
          </a:p>
          <a:p>
            <a:pPr>
              <a:defRPr sz="1400"/>
            </a:pPr>
            <a:r>
              <a:t>7. Live Demo</a:t>
            </a:r>
          </a:p>
          <a:p>
            <a:pPr>
              <a:defRPr sz="1400"/>
            </a:pPr>
            <a:r>
              <a:t>8. Wartość i kolejne kroki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Dlaczego Fabric na polu walki?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Pole walki generuje MILIONY zdarzeń/sekundę (drony, radary, GPS, wearable)</a:t>
            </a:r>
          </a:p>
          <a:p>
            <a:pPr>
              <a:defRPr sz="1400"/>
            </a:pPr>
            <a:r>
              <a:t>Przewaga informacyjna = przewaga taktyczna (skrócenie pętli OODA)</a:t>
            </a:r>
          </a:p>
          <a:p>
            <a:pPr>
              <a:defRPr sz="1400"/>
            </a:pPr>
            <a:r>
              <a:t>Potrzeba: jednolita platforma łącząca ingestion → analytics → AI → akcja</a:t>
            </a:r>
          </a:p>
          <a:p>
            <a:pPr>
              <a:defRPr sz="1400"/>
            </a:pPr>
            <a:r>
              <a:t>Microsoft Fabric = zunifikowana platforma danych + AI agents</a:t>
            </a:r>
          </a:p>
          <a:p>
            <a:pPr>
              <a:defRPr sz="1400"/>
            </a:pPr>
            <a:r>
              <a:t>Fabric RTI: sub-sekundowa analityka na miliardach zdarzeń</a:t>
            </a:r>
          </a:p>
          <a:p>
            <a:pPr>
              <a:defRPr sz="1400"/>
            </a:pPr>
            <a:r>
              <a:t>Data Agents: dowódca pyta w języku naturalnym, agent odpowiada danymi</a:t>
            </a:r>
          </a:p>
          <a:p>
            <a:pPr>
              <a:defRPr sz="1400"/>
            </a:pPr>
            <a:r>
              <a:t>Operations Agents: autonomiczny cykl observe → analyze → decide → 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D3A"/>
                </a:solidFill>
              </a:defRPr>
            </a:pPr>
            <a:r>
              <a:t>OPERATION IRONSHIELD – Scenariusz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D5A1E"/>
                </a:solidFill>
              </a:defRPr>
            </a:pPr>
            <a:r>
              <a:t>BLUE FORCE (siły sojusznicze)</a:t>
            </a:r>
          </a:p>
          <a:p>
            <a:pPr>
              <a:spcAft>
                <a:spcPts val="400"/>
              </a:spcAft>
              <a:defRPr sz="1200"/>
            </a:pPr>
            <a:r>
              <a:t>• 24 pojazdy opancerzone (BWP Borsuk/Rosomak)</a:t>
            </a:r>
          </a:p>
          <a:p>
            <a:pPr>
              <a:spcAft>
                <a:spcPts val="400"/>
              </a:spcAft>
              <a:defRPr sz="1200"/>
            </a:pPr>
            <a:r>
              <a:t>• 12 dronów rozpoznawczych (FlyEye/Warmate)</a:t>
            </a:r>
          </a:p>
          <a:p>
            <a:pPr>
              <a:spcAft>
                <a:spcPts val="400"/>
              </a:spcAft>
              <a:defRPr sz="1200"/>
            </a:pPr>
            <a:r>
              <a:t>• 120 żołnierzy piechoty z wearable sensors</a:t>
            </a:r>
          </a:p>
          <a:p>
            <a:pPr>
              <a:spcAft>
                <a:spcPts val="400"/>
              </a:spcAft>
              <a:defRPr sz="1200"/>
            </a:pPr>
            <a:r>
              <a:t>• 4 radary artyleryjskie</a:t>
            </a:r>
          </a:p>
          <a:p>
            <a:pPr>
              <a:spcAft>
                <a:spcPts val="400"/>
              </a:spcAft>
              <a:defRPr sz="1200"/>
            </a:pPr>
            <a:r>
              <a:t>• 8 haubic samobieżnych Krab</a:t>
            </a:r>
          </a:p>
          <a:p>
            <a:pPr>
              <a:spcAft>
                <a:spcPts val="400"/>
              </a:spcAft>
              <a:defRPr sz="1200"/>
            </a:pPr>
            <a:r>
              <a:t>• 10 pojazdów logistycznych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D5A1E"/>
                </a:solidFill>
              </a:defRPr>
            </a:pPr>
            <a:r>
              <a:t>RED FORCE (symulowany przeciwnik)</a:t>
            </a:r>
          </a:p>
          <a:p>
            <a:pPr>
              <a:spcAft>
                <a:spcPts val="400"/>
              </a:spcAft>
              <a:defRPr sz="1200"/>
            </a:pPr>
            <a:r>
              <a:t>• Kolumna pancerna: 14 pojazdów</a:t>
            </a:r>
          </a:p>
          <a:p>
            <a:pPr>
              <a:spcAft>
                <a:spcPts val="400"/>
              </a:spcAft>
              <a:defRPr sz="1200"/>
            </a:pPr>
            <a:r>
              <a:t>• Drony rekonesansowe</a:t>
            </a:r>
          </a:p>
          <a:p>
            <a:pPr>
              <a:spcAft>
                <a:spcPts val="400"/>
              </a:spcAft>
              <a:defRPr sz="1200"/>
            </a:pPr>
            <a:r>
              <a:t>• Ataki artyleryjskie</a:t>
            </a:r>
          </a:p>
          <a:p>
            <a:pPr>
              <a:spcAft>
                <a:spcPts val="400"/>
              </a:spcAft>
              <a:defRPr sz="1200"/>
            </a:pPr>
            <a:r>
              <a:t>• Grupy dywersyjne</a:t>
            </a:r>
          </a:p>
          <a:p>
            <a:pPr>
              <a:spcAft>
                <a:spcPts val="400"/>
              </a:spcAft>
              <a:defRPr sz="1200"/>
            </a:pPr>
            <a:r>
              <a:t>• Walka elektroniczna (EW)</a:t>
            </a:r>
          </a:p>
          <a:p>
            <a:pPr>
              <a:spcAft>
                <a:spcPts val="400"/>
              </a:spcAft>
              <a:defRPr sz="1200"/>
            </a:pPr>
            <a:r>
              <a:t>• Zachowanie parametryzowane w symulatorze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Architektura techniczna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ŹRÓDŁA: Drony • Radary • Pojazdy • Żołnierze • Meteo • SIGINT • Logistyka</a:t>
            </a:r>
          </a:p>
          <a:p>
            <a:pPr>
              <a:defRPr sz="1400"/>
            </a:pPr>
            <a:r>
              <a:t>↓ Eventstream (7 strumieni, Event Hub, MQTT/Kafka) ↓</a:t>
            </a:r>
          </a:p>
          <a:p>
            <a:pPr>
              <a:defRPr sz="1400"/>
            </a:pPr>
            <a:r>
              <a:t>Eventhouse (KQL Database) – sub-sekundowe zapytania, mld rekordów</a:t>
            </a:r>
          </a:p>
          <a:p>
            <a:pPr>
              <a:defRPr sz="1400"/>
            </a:pPr>
            <a:r>
              <a:t>Real-Time Dashboard – mapa operacyjna, KPI, alerty live</a:t>
            </a:r>
          </a:p>
          <a:p>
            <a:pPr>
              <a:defRPr sz="1400"/>
            </a:pPr>
            <a:r>
              <a:t>Data Agents – NL → KQL, multi-source reasoning</a:t>
            </a:r>
          </a:p>
          <a:p>
            <a:pPr>
              <a:defRPr sz="1400"/>
            </a:pPr>
            <a:r>
              <a:t>Operations Agents – observe→analyze→decide→act + human-in-the-loop</a:t>
            </a:r>
          </a:p>
          <a:p>
            <a:pPr>
              <a:defRPr sz="1400"/>
            </a:pPr>
            <a:r>
              <a:t>Unity Catalog – governance, RBAC, audyt, lineage</a:t>
            </a:r>
          </a:p>
          <a:p>
            <a:pPr>
              <a:defRPr sz="1400"/>
            </a:pPr>
            <a:r>
              <a:t>Power Automate – workflow: Teams alerts, akcje C2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Faza 1: Real-Time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🛰️  7 strumieni danych: drony, radary, pojazdy, żołnierze, meteo, SIGINT, logistyka</a:t>
            </a:r>
          </a:p>
          <a:p>
            <a:pPr>
              <a:defRPr sz="1400"/>
            </a:pPr>
            <a:r>
              <a:t>⚡ Eventstream: ingestion milionów zdarzeń, transformacje inline</a:t>
            </a:r>
          </a:p>
          <a:p>
            <a:pPr>
              <a:defRPr sz="1400"/>
            </a:pPr>
            <a:r>
              <a:t>🗄️  Eventhouse (KQL): sub-sekundowe zapytania analityczne</a:t>
            </a:r>
          </a:p>
          <a:p>
            <a:pPr>
              <a:defRPr sz="1400"/>
            </a:pPr>
            <a:r>
              <a:t>🗺️  Real-Time Dashboard: mapa operacyjna z live pozycjami BLUE/RED</a:t>
            </a:r>
          </a:p>
          <a:p>
            <a:pPr>
              <a:defRPr sz="1400"/>
            </a:pPr>
            <a:r>
              <a:t>🚨 Anomaly Detection: automatyczne wykrycie koncentracji sił wroga</a:t>
            </a:r>
          </a:p>
          <a:p>
            <a:pPr>
              <a:defRPr sz="1400"/>
            </a:pPr>
            <a:r>
              <a:t>📢 Alert w Teams + na dashboardzie w &lt; 5 sekund od wykrycia</a:t>
            </a:r>
          </a:p>
          <a:p>
            <a:pPr>
              <a:defRPr sz="1400"/>
            </a:pPr>
            <a:r>
              <a:t>🔍 Drill-down: kliknięcie alertu → szczegóły KQL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Faza 2: Data Agents – wywiad konwersacyjny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🗣️  Dowódca zadaje pytania w języku naturalnym</a:t>
            </a:r>
          </a:p>
          <a:p>
            <a:pPr>
              <a:defRPr sz="1400"/>
            </a:pPr>
            <a:r>
              <a:t>🔄 Agent tłumaczy na KQL, odpytuje Eventhouse, syntetyzuje odpowiedź</a:t>
            </a:r>
          </a:p>
          <a:p>
            <a:pPr>
              <a:defRPr sz="1400"/>
            </a:pPr>
            <a:r>
              <a:t>📊 Multi-source: korelacja radar + dron + SIGINT w jednej odpowiedzi</a:t>
            </a:r>
          </a:p>
          <a:p>
            <a:pPr>
              <a:defRPr sz="1400"/>
            </a:pPr>
            <a:r>
              <a:t>🎖️  Intel Agent: "Ile wrogich kontaktów w sektorze Bravo? ETA?"</a:t>
            </a:r>
          </a:p>
          <a:p>
            <a:pPr>
              <a:defRPr sz="1400"/>
            </a:pPr>
            <a:r>
              <a:t>📦 Supply Agent: "Stan amunicji 3. kompanii? ETA konwoju?"</a:t>
            </a:r>
          </a:p>
          <a:p>
            <a:pPr>
              <a:defRPr sz="1400"/>
            </a:pPr>
            <a:r>
              <a:t>🩺 Medic Agent: "Czy są ranni żołnierze wymagający MEDEVAC?"</a:t>
            </a:r>
          </a:p>
          <a:p>
            <a:pPr>
              <a:defRPr sz="1400"/>
            </a:pPr>
            <a:r>
              <a:t>⏱️  Czas odpowiedzi: sekundy zamiast minut ręcznej analizy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Data Agent – przykład interakcji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DOWÓDCA: "Ile kontaktów wrogich w sektorze Bravo? Kierunek? Prędkość?"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INTEL AGENT: "Wykryto 14 kontaktów hostile w sektorze Bravo."</a:t>
            </a:r>
          </a:p>
          <a:p>
            <a:pPr>
              <a:defRPr sz="1400"/>
            </a:pPr>
            <a:r>
              <a:t>  → Śr. prędkość: 35 km/h, kierunek: NW (azymut 315°)</a:t>
            </a:r>
          </a:p>
          <a:p>
            <a:pPr>
              <a:defRPr sz="1400"/>
            </a:pPr>
            <a:r>
              <a:t>  → Korelacja SIGINT: transmisje dowodzenia kolumną pancerną</a:t>
            </a:r>
          </a:p>
          <a:p>
            <a:pPr>
              <a:defRPr sz="1400"/>
            </a:pPr>
            <a:r>
              <a:t>  → Dystans do BLUE: 12 km, ETA: 20 minut</a:t>
            </a:r>
          </a:p>
          <a:p>
            <a:pPr>
              <a:defRPr sz="1400"/>
            </a:pPr>
            <a:r>
              <a:t>  → Rekomendacja: natychmiastowe alertowanie artylerii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Faza 3: Operations Agents – autonomiczne reagowanie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🔄 Pełny cykl: OBSERVE → ANALYZE → DECIDE → ACT</a:t>
            </a:r>
          </a:p>
          <a:p>
            <a:pPr>
              <a:defRPr sz="1400"/>
            </a:pPr>
            <a:r>
              <a:t>👁️  OBSERVE: ciągłe monitorowanie KQL queries na Eventhouse</a:t>
            </a:r>
          </a:p>
          <a:p>
            <a:pPr>
              <a:defRPr sz="1400"/>
            </a:pPr>
            <a:r>
              <a:t>🧠 ANALYZE: rozpoznanie sytuacji, kontekst (pogoda, siły, pozycje)</a:t>
            </a:r>
          </a:p>
          <a:p>
            <a:pPr>
              <a:defRPr sz="1400"/>
            </a:pPr>
            <a:r>
              <a:t>💡 DECIDE: rekomendacja w Adaptive Card → Microsoft Teams</a:t>
            </a:r>
          </a:p>
          <a:p>
            <a:pPr>
              <a:defRPr sz="1400"/>
            </a:pPr>
            <a:r>
              <a:t>✅ ACT: po zatwierdzeniu dowódcy → Power Automate workflow</a:t>
            </a:r>
          </a:p>
          <a:p>
            <a:pPr>
              <a:defRPr sz="1400"/>
            </a:pPr>
            <a:r>
              <a:t>🛡️  Human-in-the-loop: AI rekomenduje, człowiek decyduje</a:t>
            </a:r>
          </a:p>
          <a:p>
            <a:pPr>
              <a:defRPr sz="1400"/>
            </a:pPr>
            <a:r>
              <a:t>📋 Audyt: każda decyzja logowana w Unity Catalog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Operations Agent: Threat Response – pełny cykl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⚠️  OBSERVE: Radar wykrywa 14 hostile vehicles w sektorze Bravo</a:t>
            </a:r>
          </a:p>
          <a:p>
            <a:pPr>
              <a:defRPr sz="1400"/>
            </a:pPr>
            <a:r>
              <a:t>🧠 ANALYZE: kolumna pancerna, heading NW, ETA 20 min, bateria Krab w zasięgu</a:t>
            </a:r>
          </a:p>
          <a:p>
            <a:pPr>
              <a:defRPr sz="1400"/>
            </a:pPr>
            <a:r>
              <a:t>📱 DECIDE: Adaptive Card w Teams:</a:t>
            </a:r>
          </a:p>
          <a:p>
            <a:pPr>
              <a:defRPr sz="1400"/>
            </a:pPr>
            <a:r>
              <a:t>   "Rekomendacja: ogień zaporowy artylerii na współrzędne 51.234°N, 21.456°E"</a:t>
            </a:r>
          </a:p>
          <a:p>
            <a:pPr>
              <a:defRPr sz="1400"/>
            </a:pPr>
            <a:r>
              <a:t>   [✅ ZATWIERDŹ]   [❌ ODRZUĆ]   [✏️ MODYFIKUJ]</a:t>
            </a:r>
          </a:p>
          <a:p>
            <a:pPr>
              <a:defRPr sz="1400"/>
            </a:pPr>
            <a:r>
              <a:t>✅ ACT: współrzędne → system ogniowy, dron BDA, log do Unity Catalog</a:t>
            </a:r>
          </a:p>
          <a:p>
            <a:pPr>
              <a:defRPr sz="1400"/>
            </a:pPr>
            <a:r>
              <a:t>📊 VERIFY: dron potwierdza efekty na dashboardzie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Operations Agent: Logistics Optimizer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📉 DETECT: 3. kompania – stan amunicji 25% (&lt; próg 30%)</a:t>
            </a:r>
          </a:p>
          <a:p>
            <a:pPr>
              <a:defRPr sz="1400"/>
            </a:pPr>
            <a:r>
              <a:t>🗺️  ANALYZE: konwój KZ-04 w trasie, ETA 45 min, pozycje wroga na trasie</a:t>
            </a:r>
          </a:p>
          <a:p>
            <a:pPr>
              <a:defRPr sz="1400"/>
            </a:pPr>
            <a:r>
              <a:t>🔀 RECOMMEND: zmiana trasy konwoju (omijając sektor Bravo)</a:t>
            </a:r>
          </a:p>
          <a:p>
            <a:pPr>
              <a:defRPr sz="1400"/>
            </a:pPr>
            <a:r>
              <a:t>   + priorytet ładunku: amunicja &gt; paliwo</a:t>
            </a:r>
          </a:p>
          <a:p>
            <a:pPr>
              <a:defRPr sz="1400"/>
            </a:pPr>
            <a:r>
              <a:t>📱 Teams → oficer logistyki zatwierdza jednym kliknięciem</a:t>
            </a:r>
          </a:p>
          <a:p>
            <a:pPr>
              <a:defRPr sz="1400"/>
            </a:pPr>
            <a:r>
              <a:t>🚛 ACT: aktualizacja routingu, nowe ETA: 55 min (bezpieczna trasa)</a:t>
            </a:r>
          </a:p>
          <a:p>
            <a:pPr>
              <a:defRPr sz="1400"/>
            </a:pPr>
            <a:r>
              <a:t>📋 Unity Catalog: pełny audyt decyzji logistycznej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Oś czasu scenariusza (demo ~20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T+0:00  Start sensorów, Eventstream live</a:t>
            </a:r>
          </a:p>
          <a:p>
            <a:pPr>
              <a:defRPr sz="1400"/>
            </a:pPr>
            <a:r>
              <a:t>T+2:00  Dashboard: normalna aktywność, patrol</a:t>
            </a:r>
          </a:p>
          <a:p>
            <a:pPr>
              <a:defRPr sz="1400"/>
            </a:pPr>
            <a:r>
              <a:t>T+5:00  ⚠️ Anomalia! Kontakty w sektorze Bravo</a:t>
            </a:r>
          </a:p>
          <a:p>
            <a:pPr>
              <a:defRPr sz="1400"/>
            </a:pPr>
            <a:r>
              <a:t>T+6:00  Data Agent: "Ile kontaktów? Klasyfikacja?"</a:t>
            </a:r>
          </a:p>
          <a:p>
            <a:pPr>
              <a:defRPr sz="1400"/>
            </a:pPr>
            <a:r>
              <a:t>T+9:00  Operations Agent: rekomendacja ognia artylerii</a:t>
            </a:r>
          </a:p>
          <a:p>
            <a:pPr>
              <a:defRPr sz="1400"/>
            </a:pPr>
            <a:r>
              <a:t>T+10:00 Dowódca zatwierdza w Teams → workflow</a:t>
            </a:r>
          </a:p>
          <a:p>
            <a:pPr>
              <a:defRPr sz="1400"/>
            </a:pPr>
            <a:r>
              <a:t>T+15:00 BDA: dron weryfikuje, Data Agent podsumowuje</a:t>
            </a:r>
          </a:p>
          <a:p>
            <a:pPr>
              <a:defRPr sz="1400"/>
            </a:pPr>
            <a:r>
              <a:t>T+18:00 Logistics Agent: alert niski stan amunicji → reroute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D3A"/>
                </a:solidFill>
              </a:defRPr>
            </a:pPr>
            <a:r>
              <a:t>Wartość Microsoft Fabric na polu walki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D5A1E"/>
                </a:solidFill>
              </a:defRPr>
            </a:pPr>
            <a:r>
              <a:t>Zdolności</a:t>
            </a:r>
          </a:p>
          <a:p>
            <a:pPr>
              <a:spcAft>
                <a:spcPts val="400"/>
              </a:spcAft>
              <a:defRPr sz="1200"/>
            </a:pPr>
            <a:r>
              <a:t>• Pętla OODA: z minut do sekund</a:t>
            </a:r>
          </a:p>
          <a:p>
            <a:pPr>
              <a:spcAft>
                <a:spcPts val="400"/>
              </a:spcAft>
              <a:defRPr sz="1200"/>
            </a:pPr>
            <a:r>
              <a:t>• Jedna platforma: dane + AI + akcja</a:t>
            </a:r>
          </a:p>
          <a:p>
            <a:pPr>
              <a:spcAft>
                <a:spcPts val="400"/>
              </a:spcAft>
              <a:defRPr sz="1200"/>
            </a:pPr>
            <a:r>
              <a:t>• Human-in-the-loop: kontrola dowódcy</a:t>
            </a:r>
          </a:p>
          <a:p>
            <a:pPr>
              <a:spcAft>
                <a:spcPts val="400"/>
              </a:spcAft>
              <a:defRPr sz="1200"/>
            </a:pPr>
            <a:r>
              <a:t>• Governance: audyt każdej decyzji</a:t>
            </a:r>
          </a:p>
          <a:p>
            <a:pPr>
              <a:spcAft>
                <a:spcPts val="400"/>
              </a:spcAft>
              <a:defRPr sz="1200"/>
            </a:pPr>
            <a:r>
              <a:t>• Skalowalność: brygada → dywizja</a:t>
            </a:r>
          </a:p>
          <a:p>
            <a:pPr>
              <a:spcAft>
                <a:spcPts val="400"/>
              </a:spcAft>
              <a:defRPr sz="1200"/>
            </a:pPr>
            <a:r>
              <a:t>• Interoperacyjność: REST API, Power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D5A1E"/>
                </a:solidFill>
              </a:defRPr>
            </a:pPr>
            <a:r>
              <a:t>Porównanie z tradycyjnym C2</a:t>
            </a:r>
          </a:p>
          <a:p>
            <a:pPr>
              <a:spcAft>
                <a:spcPts val="400"/>
              </a:spcAft>
              <a:defRPr sz="1200"/>
            </a:pPr>
            <a:r>
              <a:t>• Ręczna analiza → AI-assisted</a:t>
            </a:r>
          </a:p>
          <a:p>
            <a:pPr>
              <a:spcAft>
                <a:spcPts val="400"/>
              </a:spcAft>
              <a:defRPr sz="1200"/>
            </a:pPr>
            <a:r>
              <a:t>• Silosowe systemy → unified platform</a:t>
            </a:r>
          </a:p>
          <a:p>
            <a:pPr>
              <a:spcAft>
                <a:spcPts val="400"/>
              </a:spcAft>
              <a:defRPr sz="1200"/>
            </a:pPr>
            <a:r>
              <a:t>• Reaktywne → proaktywne (agents)</a:t>
            </a:r>
          </a:p>
          <a:p>
            <a:pPr>
              <a:spcAft>
                <a:spcPts val="400"/>
              </a:spcAft>
              <a:defRPr sz="1200"/>
            </a:pPr>
            <a:r>
              <a:t>• Raportowanie → real-time awareness</a:t>
            </a:r>
          </a:p>
          <a:p>
            <a:pPr>
              <a:spcAft>
                <a:spcPts val="400"/>
              </a:spcAft>
              <a:defRPr sz="1200"/>
            </a:pPr>
            <a:r>
              <a:t>• Brak audytu → pełna traceability</a:t>
            </a:r>
          </a:p>
          <a:p>
            <a:pPr>
              <a:spcAft>
                <a:spcPts val="400"/>
              </a:spcAft>
              <a:defRPr sz="1200"/>
            </a:pPr>
            <a:r>
              <a:t>• Pojedynczy użytkownik → multi-agent collaboration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Wymagania techniczne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Microsoft Fabric: Capacity F2+, Copilot/AI enabled</a:t>
            </a:r>
          </a:p>
          <a:p>
            <a:pPr>
              <a:defRPr sz="1400"/>
            </a:pPr>
            <a:r>
              <a:t>Workspace: dedykowany „IRONSHIELD"</a:t>
            </a:r>
          </a:p>
          <a:p>
            <a:pPr>
              <a:defRPr sz="1400"/>
            </a:pPr>
            <a:r>
              <a:t>Eventstream: 7 strumieni + Azure Event Hub</a:t>
            </a:r>
          </a:p>
          <a:p>
            <a:pPr>
              <a:defRPr sz="1400"/>
            </a:pPr>
            <a:r>
              <a:t>Eventhouse: 1 KQL Database (7 tabel)</a:t>
            </a:r>
          </a:p>
          <a:p>
            <a:pPr>
              <a:defRPr sz="1400"/>
            </a:pPr>
            <a:r>
              <a:t>Data Agents: 3 (Intel, Supply, Medic)</a:t>
            </a:r>
          </a:p>
          <a:p>
            <a:pPr>
              <a:defRPr sz="1400"/>
            </a:pPr>
            <a:r>
              <a:t>Operations Agents: 4 (Threat, Logistics, MEDEVAC, EW)</a:t>
            </a:r>
          </a:p>
          <a:p>
            <a:pPr>
              <a:defRPr sz="1400"/>
            </a:pPr>
            <a:r>
              <a:t>Power Automate: 2 flows + Microsoft Teams kanał</a:t>
            </a:r>
          </a:p>
          <a:p>
            <a:pPr>
              <a:defRPr sz="1400"/>
            </a:pPr>
            <a:r>
              <a:t>Generator danych: Python notebook (parametryzowany scenariusz)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Kolejne kroki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 Provisioning: Fabric workspace + Event Hub + Eventhouse</a:t>
            </a:r>
          </a:p>
          <a:p>
            <a:pPr>
              <a:defRPr sz="1400"/>
            </a:pPr>
            <a:r>
              <a:t>2. Implementacja generatora danych (Python notebook)</a:t>
            </a:r>
          </a:p>
          <a:p>
            <a:pPr>
              <a:defRPr sz="1400"/>
            </a:pPr>
            <a:r>
              <a:t>3. Konfiguracja Eventstream (7 strumieni + transformacje)</a:t>
            </a:r>
          </a:p>
          <a:p>
            <a:pPr>
              <a:defRPr sz="1400"/>
            </a:pPr>
            <a:r>
              <a:t>4. Build Real-Time Dashboard (7 paneli, mapa operacyjna)</a:t>
            </a:r>
          </a:p>
          <a:p>
            <a:pPr>
              <a:defRPr sz="1400"/>
            </a:pPr>
            <a:r>
              <a:t>5. Konfiguracja Data Agents (3 agenty, sources, prompts)</a:t>
            </a:r>
          </a:p>
          <a:p>
            <a:pPr>
              <a:defRPr sz="1400"/>
            </a:pPr>
            <a:r>
              <a:t>6. Konfiguracja Operations Agents (4 agenty, goals, actions)</a:t>
            </a:r>
          </a:p>
          <a:p>
            <a:pPr>
              <a:defRPr sz="1400"/>
            </a:pPr>
            <a:r>
              <a:t>7. Power Automate flows + Teams kanał</a:t>
            </a:r>
          </a:p>
          <a:p>
            <a:pPr>
              <a:defRPr sz="1400"/>
            </a:pPr>
            <a:r>
              <a:t>8. Rehearsal i optymalizacja scenariusza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B1D3A"/>
                </a:solidFill>
              </a:rPr>
              <a:t>OPERATION IRONSHIELD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Gotowi do demonstracji?</a:t>
            </a:r>
          </a:p>
          <a:p>
            <a:r>
              <a:t>Pytania i dyskusja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